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0" kern="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SMALL HAIR SALONS  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広告に頼り続ける経営から、降りる。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小規模美容室のための、月額 ¥4,980 から始める顧客管理 SaaS。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0" y="3520440"/>
            <a:ext cx="2194560" cy="1005840"/>
          </a:xfrm>
          <a:prstGeom prst="rect">
            <a:avLst/>
          </a:prstGeom>
          <a:solidFill>
            <a:srgbClr val="1A2D47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0" y="3520440"/>
            <a:ext cx="2194560" cy="1005840"/>
          </a:xfrm>
          <a:prstGeom prst="rect">
            <a:avLst/>
          </a:prstGeom>
          <a:solidFill>
            <a:srgbClr val="1A2D47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¥4,980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7472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(税別)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0" y="3520440"/>
            <a:ext cx="2194560" cy="1005840"/>
          </a:xfrm>
          <a:prstGeom prst="rect">
            <a:avLst/>
          </a:prstGeom>
          <a:solidFill>
            <a:srgbClr val="1A2D47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解約自由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契約縛りなし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小規模美容室のオーナーは、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夜になっても店から離れられない。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85000"/>
              </a:lnSpc>
              <a:buNone/>
            </a:pPr>
            <a:r>
              <a:rPr lang="en-US" sz="12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5名以下のサロンでは、施術以外の業務がオーナーに集中する。</a:t>
            </a:r>
            <a:endParaRPr lang="en-US" sz="12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12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営業後の1〜2時間は、紙カルテの整理・LINEでの予約対応・HPB管理画面の更新・売上集計に費やされる。</a:t>
            </a:r>
            <a:endParaRPr lang="en-US" sz="120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12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それは、本来、自分や家族のための時間だったはずだ。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3429000"/>
            <a:ext cx="7498080" cy="0"/>
          </a:xfrm>
          <a:prstGeom prst="line">
            <a:avLst/>
          </a:prstGeom>
          <a:noFill/>
          <a:ln w="12700">
            <a:solidFill>
              <a:srgbClr val="E5E1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3355848"/>
            <a:ext cx="146304" cy="146304"/>
          </a:xfrm>
          <a:prstGeom prst="ellipse">
            <a:avLst/>
          </a:prstGeom>
          <a:solidFill>
            <a:srgbClr val="7A7A7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3611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38404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開店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49424" y="3355848"/>
            <a:ext cx="146304" cy="146304"/>
          </a:xfrm>
          <a:prstGeom prst="ellipse">
            <a:avLst/>
          </a:prstGeom>
          <a:solidFill>
            <a:srgbClr val="7A7A7A"/>
          </a:solidFill>
          <a:ln/>
        </p:spPr>
      </p:sp>
      <p:sp>
        <p:nvSpPr>
          <p:cNvPr id="10" name="Text 8"/>
          <p:cNvSpPr/>
          <p:nvPr/>
        </p:nvSpPr>
        <p:spPr>
          <a:xfrm>
            <a:off x="1819656" y="3611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82496" y="38404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ランチ施術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49040" y="3355848"/>
            <a:ext cx="146304" cy="146304"/>
          </a:xfrm>
          <a:prstGeom prst="ellipse">
            <a:avLst/>
          </a:prstGeom>
          <a:solidFill>
            <a:srgbClr val="7A7A7A"/>
          </a:solidFill>
          <a:ln/>
        </p:spPr>
      </p:sp>
      <p:sp>
        <p:nvSpPr>
          <p:cNvPr id="13" name="Text 11"/>
          <p:cNvSpPr/>
          <p:nvPr/>
        </p:nvSpPr>
        <p:spPr>
          <a:xfrm>
            <a:off x="3319272" y="3611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19:00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82112" y="38404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営業終了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248656" y="3355848"/>
            <a:ext cx="146304" cy="146304"/>
          </a:xfrm>
          <a:prstGeom prst="ellipse">
            <a:avLst/>
          </a:prstGeom>
          <a:solidFill>
            <a:srgbClr val="D6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4818888" y="3611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8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19:30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81728" y="38404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LINE返信開始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748272" y="3355848"/>
            <a:ext cx="146304" cy="146304"/>
          </a:xfrm>
          <a:prstGeom prst="ellipse">
            <a:avLst/>
          </a:prstGeom>
          <a:solidFill>
            <a:srgbClr val="C25656"/>
          </a:solidFill>
          <a:ln/>
        </p:spPr>
      </p:sp>
      <p:sp>
        <p:nvSpPr>
          <p:cNvPr id="19" name="Text 17"/>
          <p:cNvSpPr/>
          <p:nvPr/>
        </p:nvSpPr>
        <p:spPr>
          <a:xfrm>
            <a:off x="6318504" y="3611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56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20:30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81344" y="38404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カルテ整理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247888" y="3355848"/>
            <a:ext cx="146304" cy="146304"/>
          </a:xfrm>
          <a:prstGeom prst="ellipse">
            <a:avLst/>
          </a:prstGeom>
          <a:solidFill>
            <a:srgbClr val="B54343"/>
          </a:solidFill>
          <a:ln/>
        </p:spPr>
      </p:sp>
      <p:sp>
        <p:nvSpPr>
          <p:cNvPr id="22" name="Text 20"/>
          <p:cNvSpPr/>
          <p:nvPr/>
        </p:nvSpPr>
        <p:spPr>
          <a:xfrm>
            <a:off x="7818120" y="3611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543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21:30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680960" y="38404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やっと帰宅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4251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4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終業後の 2時間半 を、事務作業が奪っている。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ホットペッパーの広告費は、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年間 40〜60万円 に達する。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広告費の構造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ライトプラン(最安)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¥25,000 / 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953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12ヶ月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92608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¥300,000 / 年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3009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ネット予約成果課金(推定)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26080" y="3300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¥10〜30万 / 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0" cy="0"/>
          </a:xfrm>
          <a:prstGeom prst="line">
            <a:avLst/>
          </a:prstGeom>
          <a:noFill/>
          <a:ln w="7620">
            <a:solidFill>
              <a:srgbClr val="E5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794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(年間 広告費)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377647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B543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¥40〜60万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120640" y="2240280"/>
            <a:ext cx="3474720" cy="2103120"/>
          </a:xfrm>
          <a:prstGeom prst="rect">
            <a:avLst/>
          </a:prstGeom>
          <a:solidFill>
            <a:srgbClr val="FAF3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2240280"/>
            <a:ext cx="73152" cy="2103120"/>
          </a:xfrm>
          <a:prstGeom prst="rect">
            <a:avLst/>
          </a:prstGeom>
          <a:solidFill>
            <a:srgbClr val="B8924F"/>
          </a:solidFill>
          <a:ln/>
        </p:spPr>
      </p:sp>
      <p:sp>
        <p:nvSpPr>
          <p:cNvPr id="16" name="Text 14"/>
          <p:cNvSpPr/>
          <p:nvPr/>
        </p:nvSpPr>
        <p:spPr>
          <a:xfrm>
            <a:off x="53492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年商 1,000万円のサロンで、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49240" y="26243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売上の 4〜6% を、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4924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HPB の広告費が占める。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49240" y="34290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しかも、LINEで繋がった常連客がHPB経由で予約しても、紹介手数料は発生し続ける。広告費は、新規だけのコストではない。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44577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ホットペッパービューティー公開料金(ライトプラン¥25,000/月〜) / 業界ヒアリング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BROKEN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問題は「ツールがない」のではなく、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「ツールが分散している」こと。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85000"/>
              </a:lnSpc>
              <a:buNone/>
            </a:pPr>
            <a:r>
              <a:rPr lang="en-US" sz="11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多くの小規模サロンは、HPB管理画面・個人LINE・紙カルテ・Excel・SNS の5つを行き来している。</a:t>
            </a:r>
            <a:endParaRPr lang="en-US" sz="1150" dirty="0"/>
          </a:p>
          <a:p>
            <a:pPr indent="0" marL="0">
              <a:lnSpc>
                <a:spcPct val="185000"/>
              </a:lnSpc>
              <a:buNone/>
            </a:pPr>
            <a:r>
              <a:rPr lang="en-US" sz="11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1つにまとまっていないから、データが繋がらず、判断ができず、時間が消える。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13816" y="3246120"/>
            <a:ext cx="1371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3816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予約・広告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85416" y="354787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50008" y="3246120"/>
            <a:ext cx="1371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50008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0008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顧客対応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721608" y="354787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86200" y="3246120"/>
            <a:ext cx="1371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紙カルテ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8620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薬剤履歴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257800" y="354787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22392" y="3246120"/>
            <a:ext cx="1371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2392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22392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売上管理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93992" y="354787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958584" y="3246120"/>
            <a:ext cx="1371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58584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58584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297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54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データが繋がらない → 同じ顧客が二重登録 → 判断材料にならない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5つのツールを、1つの管理画面に。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HairSalonLink は、予約・カルテ・LINE配信・分析を1画面に統合する顧客管理SaaS。</a:t>
            </a:r>
            <a:endParaRPr lang="en-US" sz="1200" dirty="0"/>
          </a:p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¥4,980 で、複数ツールの契約を1本化し、データを連結して経営判断の材料に変えます。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68880" cy="274320"/>
          </a:xfrm>
          <a:prstGeom prst="rect">
            <a:avLst/>
          </a:prstGeom>
          <a:solidFill>
            <a:srgbClr val="F7F6F3"/>
          </a:solidFill>
          <a:ln w="5080">
            <a:solidFill>
              <a:srgbClr val="E5E1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743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 (予約・広告)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2468880" cy="274320"/>
          </a:xfrm>
          <a:prstGeom prst="rect">
            <a:avLst/>
          </a:prstGeom>
          <a:solidFill>
            <a:srgbClr val="F7F6F3"/>
          </a:solidFill>
          <a:ln w="5080">
            <a:solidFill>
              <a:srgbClr val="E5E1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(顧客対応)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2468880" cy="274320"/>
          </a:xfrm>
          <a:prstGeom prst="rect">
            <a:avLst/>
          </a:prstGeom>
          <a:solidFill>
            <a:srgbClr val="F7F6F3"/>
          </a:solidFill>
          <a:ln w="5080">
            <a:solidFill>
              <a:srgbClr val="E5E1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83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紙カルテ (履歴)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703320"/>
            <a:ext cx="2468880" cy="274320"/>
          </a:xfrm>
          <a:prstGeom prst="rect">
            <a:avLst/>
          </a:prstGeom>
          <a:solidFill>
            <a:srgbClr val="F7F6F3"/>
          </a:solidFill>
          <a:ln w="5080">
            <a:solidFill>
              <a:srgbClr val="E5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703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(売上管理)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2468880" cy="274320"/>
          </a:xfrm>
          <a:prstGeom prst="rect">
            <a:avLst/>
          </a:prstGeom>
          <a:solidFill>
            <a:srgbClr val="F7F6F3"/>
          </a:solidFill>
          <a:ln w="5080">
            <a:solidFill>
              <a:srgbClr val="E5E1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023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(宣伝)</a:t>
            </a:r>
            <a:endParaRPr lang="en-US" sz="9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3566160"/>
            <a:ext cx="457200" cy="4572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754880" y="2697480"/>
            <a:ext cx="3840480" cy="1828800"/>
          </a:xfrm>
          <a:prstGeom prst="rect">
            <a:avLst/>
          </a:prstGeom>
          <a:solidFill>
            <a:srgbClr val="E8F0F5"/>
          </a:solidFill>
          <a:ln w="15240">
            <a:solidFill>
              <a:srgbClr val="1F5F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2697480"/>
            <a:ext cx="91440" cy="182880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0" y="2880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029200" y="3337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1つの管理画面で、すべて完結。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9200" y="3749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 / カルテ / LINE配信 / 分析 を、</a:t>
            </a:r>
            <a:endParaRPr lang="en-US" sz="10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同じ顧客データに紐づけて一元管理。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他社にない指標 ── HPB→自社 移行率。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「HPBの広告を減らしても、お客様は戻ってきてくれるか？」</a:t>
            </a:r>
            <a:endParaRPr lang="en-US" sz="1200" dirty="0"/>
          </a:p>
          <a:p>
            <a:pPr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これは経営判断の核心の問いです。HairSalonLink は、その答えを数字で出します。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80467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697480"/>
            <a:ext cx="73152" cy="169164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 → 自社 移行率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</a:t>
            </a:r>
            <a:pPr indent="0" marL="0">
              <a:buNone/>
            </a:pPr>
            <a:r>
              <a:rPr lang="en-US" sz="2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389120" y="2880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この数字の読み方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0" y="32004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HPB経由の新規客のうち 57% が、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次回をLINEや自社で予約した。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8912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5000"/>
              </a:lnSpc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HPB広告を月¥10,000減らせる根拠になる。</a:t>
            </a:r>
            <a:endParaRPr lang="en-US" sz="10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移行率が低ければ、LINE登録誘導の改善余地が見える。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44577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画面内の数値はデモサロンの例です。実際の数値は店舗の運用により変動します。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小規模の運用に必要な、6つの機能。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123444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E8F0F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956816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901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LINE予約・リマインド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31520" y="24048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LIFF対応・自動受付・自動リマインド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46120" y="1691640"/>
            <a:ext cx="2606040" cy="123444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29000" y="1874520"/>
            <a:ext cx="457200" cy="457200"/>
          </a:xfrm>
          <a:prstGeom prst="ellipse">
            <a:avLst/>
          </a:prstGeom>
          <a:solidFill>
            <a:srgbClr val="E8F0F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95681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77640" y="1901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予約カレンダー統合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3429000" y="24048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 / LINE / Web を1画面に集約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943600" y="1691640"/>
            <a:ext cx="2606040" cy="123444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126480" y="1874520"/>
            <a:ext cx="457200" cy="457200"/>
          </a:xfrm>
          <a:prstGeom prst="ellipse">
            <a:avLst/>
          </a:prstGeom>
          <a:solidFill>
            <a:srgbClr val="E8F0F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95681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75120" y="1901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HPB→自社 移行率追跡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126480" y="24048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独自KPIで広告判断の材料を可視化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3108960"/>
            <a:ext cx="2606040" cy="123444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E8F0F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374136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3192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薬剤履歴カルテ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731520" y="38221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ブランド・比率・アレルギー・DL 1-5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246120" y="3108960"/>
            <a:ext cx="2606040" cy="123444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3429000" y="3291840"/>
            <a:ext cx="457200" cy="457200"/>
          </a:xfrm>
          <a:prstGeom prst="ellipse">
            <a:avLst/>
          </a:prstGeom>
          <a:solidFill>
            <a:srgbClr val="E8F0F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3374136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77640" y="33192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セグメント別LINE配信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3429000" y="38221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休眠 / VIP / 初回 の条件指定で配信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5943600" y="3108960"/>
            <a:ext cx="2606040" cy="123444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126480" y="3291840"/>
            <a:ext cx="457200" cy="457200"/>
          </a:xfrm>
          <a:prstGeom prst="ellipse">
            <a:avLst/>
          </a:prstGeom>
          <a:solidFill>
            <a:srgbClr val="E8F0F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8776" y="3374136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75120" y="33192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スタイルギャラリー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6126480" y="38221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撮影写真からそのまま予約に導線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36" name="Text 28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ALTERNATIVES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主要ツールとの比較で、優位性を示す。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03120" cy="502920"/>
          </a:xfrm>
          <a:prstGeom prst="rect">
            <a:avLst/>
          </a:prstGeom>
          <a:solidFill>
            <a:srgbClr val="D6D0C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651760" y="1828800"/>
            <a:ext cx="1691640" cy="502920"/>
          </a:xfrm>
          <a:prstGeom prst="rect">
            <a:avLst/>
          </a:prstGeom>
          <a:solidFill>
            <a:srgbClr val="D6D0C5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紙カルテ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1691640" cy="502920"/>
          </a:xfrm>
          <a:prstGeom prst="rect">
            <a:avLst/>
          </a:prstGeom>
          <a:solidFill>
            <a:srgbClr val="D6D0C5"/>
          </a:solidFill>
          <a:ln/>
        </p:spPr>
      </p:sp>
      <p:sp>
        <p:nvSpPr>
          <p:cNvPr id="9" name="Text 7"/>
          <p:cNvSpPr/>
          <p:nvPr/>
        </p:nvSpPr>
        <p:spPr>
          <a:xfrm>
            <a:off x="443484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汎用予約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828800"/>
            <a:ext cx="2560320" cy="50292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HairSalonLink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331720"/>
            <a:ext cx="2103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3317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月額コスト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1760" y="233172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233172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43400" y="233172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233172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¥8,000〜¥21,000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2331720"/>
            <a:ext cx="2560320" cy="320040"/>
          </a:xfrm>
          <a:prstGeom prst="rect">
            <a:avLst/>
          </a:prstGeom>
          <a:solidFill>
            <a:srgbClr val="E8F0F5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44768" y="233172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¥4,980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51760"/>
            <a:ext cx="210312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65176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651760" y="2651760"/>
            <a:ext cx="169164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61488" y="265176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43400" y="2651760"/>
            <a:ext cx="169164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53128" y="265176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¥0〜¥100,000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651760"/>
            <a:ext cx="2560320" cy="320040"/>
          </a:xfrm>
          <a:prstGeom prst="rect">
            <a:avLst/>
          </a:prstGeom>
          <a:solidFill>
            <a:srgbClr val="E8F0F5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44768" y="265176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2971800"/>
            <a:ext cx="2103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297180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LINE連携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651760" y="297180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61488" y="297180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43400" y="297180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53128" y="297180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9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2971800"/>
            <a:ext cx="2560320" cy="320040"/>
          </a:xfrm>
          <a:prstGeom prst="rect">
            <a:avLst/>
          </a:prstGeom>
          <a:solidFill>
            <a:srgbClr val="E8F0F5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44768" y="297180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3291840"/>
            <a:ext cx="210312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918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薬剤履歴カルテ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651760" y="3291840"/>
            <a:ext cx="169164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61488" y="329184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9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43400" y="3291840"/>
            <a:ext cx="169164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53128" y="329184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9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35040" y="3291840"/>
            <a:ext cx="2560320" cy="320040"/>
          </a:xfrm>
          <a:prstGeom prst="rect">
            <a:avLst/>
          </a:prstGeom>
          <a:solidFill>
            <a:srgbClr val="E8F0F5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44768" y="329184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3611880"/>
            <a:ext cx="2103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36118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HPB→自社 移行率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651760" y="361188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61488" y="361188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343400" y="361188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53128" y="361188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2560320" cy="320040"/>
          </a:xfrm>
          <a:prstGeom prst="rect">
            <a:avLst/>
          </a:prstGeom>
          <a:solidFill>
            <a:srgbClr val="E8F0F5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61188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3931920"/>
            <a:ext cx="210312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" y="393192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小規模特化UI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61488" y="393192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343400" y="3931920"/>
            <a:ext cx="1691640" cy="320040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453128" y="393192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9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035040" y="3931920"/>
            <a:ext cx="2560320" cy="320040"/>
          </a:xfrm>
          <a:prstGeom prst="rect">
            <a:avLst/>
          </a:prstGeom>
          <a:solidFill>
            <a:srgbClr val="E8F0F5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44768" y="393192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548640" y="4251960"/>
            <a:ext cx="2103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8368" y="425196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契約縛り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51760" y="425196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61488" y="425196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343400" y="4251960"/>
            <a:ext cx="16916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53128" y="4251960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年契約多い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035040" y="4251960"/>
            <a:ext cx="2560320" cy="320040"/>
          </a:xfrm>
          <a:prstGeom prst="rect">
            <a:avLst/>
          </a:prstGeom>
          <a:solidFill>
            <a:srgbClr val="E8F0F5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44768" y="425196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なし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48640" y="44577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各社公開料金・公式情報より作成(2026年4月時点)。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月額 ¥4,980 が、何で回収できるか。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1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費用対効果を、「広告費の削減」「事務時間の削減」「ペイバック期間」の3つで定量化します。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590800" cy="201168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2590800" cy="73152"/>
          </a:xfrm>
          <a:prstGeom prst="rect">
            <a:avLst/>
          </a:prstGeom>
          <a:solidFill>
            <a:srgbClr val="B5434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96312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広告費の削減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22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¥10,000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月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HPB→自社移行率が 10pt 上がれば、HPB広告予算を月1万円減らせる試算。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76600" y="2331720"/>
            <a:ext cx="2590800" cy="201168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76600" y="2331720"/>
            <a:ext cx="2590800" cy="73152"/>
          </a:xfrm>
          <a:prstGeom prst="rect">
            <a:avLst/>
          </a:prstGeom>
          <a:solidFill>
            <a:srgbClr val="B8924F"/>
          </a:solidFill>
          <a:ln/>
        </p:spPr>
      </p:sp>
      <p:sp>
        <p:nvSpPr>
          <p:cNvPr id="12" name="Text 10"/>
          <p:cNvSpPr/>
          <p:nvPr/>
        </p:nvSpPr>
        <p:spPr>
          <a:xfrm>
            <a:off x="3459480" y="2496312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事務時間の削減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59480" y="2834640"/>
            <a:ext cx="222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20時間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459480" y="3429000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営業後の予約対応・カルテ整理・売上集計を統合。1日40分 × 30営業日。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04560" y="2331720"/>
            <a:ext cx="2590800" cy="2011680"/>
          </a:xfrm>
          <a:prstGeom prst="rect">
            <a:avLst/>
          </a:prstGeom>
          <a:solidFill>
            <a:srgbClr val="F7F6F3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04560" y="2331720"/>
            <a:ext cx="2590800" cy="73152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17" name="Text 15"/>
          <p:cNvSpPr/>
          <p:nvPr/>
        </p:nvSpPr>
        <p:spPr>
          <a:xfrm>
            <a:off x="6187440" y="2496312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ペイバック期間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87440" y="2834640"/>
            <a:ext cx="222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ヶ月未満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187440" y="3429000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5000"/>
              </a:lnSpc>
              <a:buNone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上記2項目だけで、Standard プランは月額の数倍の効果が見込める。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44577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効果は店舗の運用状況により変動します。試算は標準的な小規模サロンを想定。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まずは無料から。必要になったら月額へ。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032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お試し / 1席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¥0</a:t>
            </a:r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/月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まずは触ってみたい方へ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3246120"/>
            <a:ext cx="21031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375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顧客 30名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月50予約まで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基本カルテ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LINE予約URL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CSV移行対応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クレカ登録不要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91840" y="1691640"/>
            <a:ext cx="2560320" cy="2880360"/>
          </a:xfrm>
          <a:prstGeom prst="rect">
            <a:avLst/>
          </a:prstGeom>
          <a:solidFill>
            <a:srgbClr val="1F5F80"/>
          </a:solidFill>
          <a:ln w="12700">
            <a:solidFill>
              <a:srgbClr val="1F5F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71900" y="1554480"/>
            <a:ext cx="1600200" cy="256032"/>
          </a:xfrm>
          <a:prstGeom prst="rect">
            <a:avLst/>
          </a:prstGeom>
          <a:solidFill>
            <a:srgbClr val="B8924F"/>
          </a:solidFill>
          <a:ln/>
        </p:spPr>
      </p:sp>
      <p:sp>
        <p:nvSpPr>
          <p:cNvPr id="13" name="Text 11"/>
          <p:cNvSpPr/>
          <p:nvPr/>
        </p:nvSpPr>
        <p:spPr>
          <a:xfrm>
            <a:off x="3771900" y="1554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2044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20440" y="21488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 / 1〜5席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20440" y="2423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¥4,980</a:t>
            </a:r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/月(税別)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52044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HPB依存を本気で減らしたい方へ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20440" y="3246120"/>
            <a:ext cx="2103120" cy="0"/>
          </a:xfrm>
          <a:prstGeom prst="line">
            <a:avLst/>
          </a:prstGeom>
          <a:noFill/>
          <a:ln w="5080">
            <a:solidFill>
              <a:srgbClr val="4A8FA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33375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顧客 500名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予約無制限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LINE配信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薬剤カルテ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指名管理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HPB移行率KPI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1691640"/>
            <a:ext cx="256032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63640" y="21488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複数スタッフ / 5席〜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2423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¥9,980</a:t>
            </a:r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/月(税別)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26364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成長フェーズに入った店舗へ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63640" y="3246120"/>
            <a:ext cx="21031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33375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顧客無制限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AI離反予測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ギャラリー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複数スタッフ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初期設定サポート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9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優先サポート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F5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SAFE TO TRY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もし合わなかったら、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いつでも、何も失わずにやめられる。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8046720" cy="429768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「契約してから後悔したら？」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997964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977640" y="1874520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月単位で解約できます。違約金はありません。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2350008"/>
            <a:ext cx="804672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350008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「データを失わない？」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247345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77640" y="2350008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解約後30日間、顧客データをCSVでエクスポートできます。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2825496"/>
            <a:ext cx="8046720" cy="429768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31520" y="2825496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「カード情報を渡したくない」</a:t>
            </a:r>
            <a:endParaRPr lang="en-US" sz="10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9489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977640" y="2825496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Freeプランはクレジットカード登録不要です。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48640" y="3300984"/>
            <a:ext cx="804672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31520" y="3300984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「使いこなせるか不安」</a:t>
            </a:r>
            <a:endParaRPr lang="en-US" sz="10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342442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977640" y="3300984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LINEを使えるなら大丈夫。アイコン中心のシンプルUI。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3776472"/>
            <a:ext cx="8046720" cy="429768"/>
          </a:xfrm>
          <a:prstGeom prst="rect">
            <a:avLst/>
          </a:prstGeom>
          <a:solidFill>
            <a:srgbClr val="F7F6F3"/>
          </a:solidFill>
          <a:ln w="3810">
            <a:solidFill>
              <a:srgbClr val="E5E1DB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731520" y="3776472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「既存データの移行は？」</a:t>
            </a:r>
            <a:endParaRPr lang="en-US" sz="10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89991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77640" y="3776472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HPBのCSVをそのまま取込。電話番号で自動名寄せ。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548640" y="4686300"/>
            <a:ext cx="8046720" cy="0"/>
          </a:xfrm>
          <a:prstGeom prst="line">
            <a:avLst/>
          </a:prstGeom>
          <a:noFill/>
          <a:ln w="5080">
            <a:solidFill>
              <a:srgbClr val="E5E1DB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548640" y="47777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HairSalonLink</a:t>
            </a:r>
            <a:endParaRPr lang="en-US" sz="800" dirty="0"/>
          </a:p>
        </p:txBody>
      </p:sp>
      <p:sp>
        <p:nvSpPr>
          <p:cNvPr id="26" name="Text 19"/>
          <p:cNvSpPr/>
          <p:nvPr/>
        </p:nvSpPr>
        <p:spPr>
          <a:xfrm>
            <a:off x="768096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0" kern="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今日30分で、明日の経営判断が変わる。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Freeプラン登録 → HPBのCSVをアップロード → LINE予約URLを発行。</a:t>
            </a:r>
            <a:endParaRPr lang="en-US" sz="1200" dirty="0"/>
          </a:p>
          <a:p>
            <a:pPr algn="ctr" indent="0" marL="0">
              <a:lnSpc>
                <a:spcPct val="175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これだけで、明日からの予約データが1画面に蓄積されはじめます。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840480" cy="1188720"/>
          </a:xfrm>
          <a:prstGeom prst="rect">
            <a:avLst/>
          </a:prstGeom>
          <a:solidFill>
            <a:srgbClr val="1A2D4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035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ベータ版デモ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今すぐブラウザで試せます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hair-salon-link-production.up.railway.app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926080"/>
            <a:ext cx="3840480" cy="1188720"/>
          </a:xfrm>
          <a:prstGeom prst="rect">
            <a:avLst/>
          </a:prstGeom>
          <a:solidFill>
            <a:srgbClr val="1F5F80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035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お問い合わせ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6344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直接ご相談も承ります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shibahara.724@gmail.com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カード登録不要 / 登録から3分で利用開始 / 月額 ¥4,980〜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HairSalonLink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HairSalonLink — Pitch Deck</dc:title>
  <dc:subject>PptxGenJS Presentation</dc:subject>
  <dc:creator>HairSalonLink</dc:creator>
  <cp:lastModifiedBy>HairSalonLink</cp:lastModifiedBy>
  <cp:revision>1</cp:revision>
  <dcterms:created xsi:type="dcterms:W3CDTF">2026-04-19T01:08:27Z</dcterms:created>
  <dcterms:modified xsi:type="dcterms:W3CDTF">2026-04-19T01:08:27Z</dcterms:modified>
</cp:coreProperties>
</file>