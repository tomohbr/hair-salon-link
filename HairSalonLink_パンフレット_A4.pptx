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88936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HAIR SALONS 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9683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9683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広告に頼り続ける経営から、降りる。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4251960"/>
            <a:ext cx="9683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小規模美容室のための、月額 ¥4,980 から始める顧客管理 SaaS。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" y="5303520"/>
            <a:ext cx="2926080" cy="13716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" y="5440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35508" y="6172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1628" y="5303520"/>
            <a:ext cx="2926080" cy="13716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2" name="Text 10"/>
          <p:cNvSpPr/>
          <p:nvPr/>
        </p:nvSpPr>
        <p:spPr>
          <a:xfrm>
            <a:off x="3881628" y="5440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¥4,980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81628" y="6172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(税別)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27748" y="5303520"/>
            <a:ext cx="2926080" cy="137160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15" name="Text 13"/>
          <p:cNvSpPr/>
          <p:nvPr/>
        </p:nvSpPr>
        <p:spPr>
          <a:xfrm>
            <a:off x="7127748" y="5440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解約自由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127748" y="6172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契約縛りなし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小規模美容室のオーナーは、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夜になっても店から離れられない。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3017520"/>
            <a:ext cx="9683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5名以下のサロンでは、施術以外の業務がオーナーに集中する。</a:t>
            </a:r>
            <a:endParaRPr lang="en-US" sz="14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営業後の1〜2時間は、紙カルテの整理・LINEでの予約対応・HPB管理画面の更新・売上集計に費やされる。</a:t>
            </a:r>
            <a:endParaRPr lang="en-US" sz="14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それは、本来、自分や家族のための時間だったはずだ。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5303520"/>
            <a:ext cx="8951976" cy="0"/>
          </a:xfrm>
          <a:prstGeom prst="line">
            <a:avLst/>
          </a:prstGeom>
          <a:noFill/>
          <a:ln w="15240">
            <a:solidFill>
              <a:srgbClr val="D9D3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5202936"/>
            <a:ext cx="201168" cy="201168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58491" y="5202936"/>
            <a:ext cx="201168" cy="201168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0" name="Text 8"/>
          <p:cNvSpPr/>
          <p:nvPr/>
        </p:nvSpPr>
        <p:spPr>
          <a:xfrm>
            <a:off x="2018995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36115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ランチ施術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8886" y="5202936"/>
            <a:ext cx="201168" cy="201168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380939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26510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営業終了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39282" y="5202936"/>
            <a:ext cx="201168" cy="201168"/>
          </a:xfrm>
          <a:prstGeom prst="ellipse">
            <a:avLst/>
          </a:prstGeom>
          <a:solidFill>
            <a:srgbClr val="C8822B"/>
          </a:solidFill>
          <a:ln/>
        </p:spPr>
      </p:sp>
      <p:sp>
        <p:nvSpPr>
          <p:cNvPr id="16" name="Text 14"/>
          <p:cNvSpPr/>
          <p:nvPr/>
        </p:nvSpPr>
        <p:spPr>
          <a:xfrm>
            <a:off x="5599786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6906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LINE返信開始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29677" y="5202936"/>
            <a:ext cx="201168" cy="201168"/>
          </a:xfrm>
          <a:prstGeom prst="ellipse">
            <a:avLst/>
          </a:prstGeom>
          <a:solidFill>
            <a:srgbClr val="B0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390181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20:30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07301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カルテ整理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20072" y="5202936"/>
            <a:ext cx="201168" cy="201168"/>
          </a:xfrm>
          <a:prstGeom prst="ellipse">
            <a:avLst/>
          </a:prstGeom>
          <a:solidFill>
            <a:srgbClr val="A53838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21:30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97696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やっと帰宅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終業後の 2時間半 を、事務作業が奪っている。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ホットペッパーの広告費は、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年間 40〜60万円 に達する。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広告費の構造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ライトプラン(最安)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290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¥25,000 / 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12ヶ月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¥300,000 / 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ネット予約成果課金(推定)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¥10〜30万 / 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257800"/>
            <a:ext cx="4754880" cy="0"/>
          </a:xfrm>
          <a:prstGeom prst="line">
            <a:avLst/>
          </a:prstGeom>
          <a:noFill/>
          <a:ln w="10160">
            <a:solidFill>
              <a:srgbClr val="D9D3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(年間 広告費)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5349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5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¥40〜60万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4206240" cy="2926080"/>
          </a:xfrm>
          <a:prstGeom prst="rect">
            <a:avLst/>
          </a:prstGeom>
          <a:solidFill>
            <a:srgbClr val="F5EBD5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3108960"/>
            <a:ext cx="109728" cy="2926080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年商 1,000万円のサロンで、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売上の 4〜6% を、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HPB の広告費が占める。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4846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しかも、LINEで繋がった常連客がHPB経由で予約しても、紹介手数料は発生し続ける。広告費は、新規だけのコストではない。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693408"/>
            <a:ext cx="9683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ホットペッパービューティー公開料金 (ライトプラン ¥25,000/月〜) / 業界ヒアリング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BROKEN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問題は「ツールがない」のではなく、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「ツールが分散している」こと。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9683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多くの小規模サロンは、HPB管理画面・個人LINE・紙カルテ・Excel・SNS の5つを行き来している。</a:t>
            </a:r>
            <a:endParaRPr lang="en-US" sz="14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1つにまとまっていないから、データが繋がらず、判断ができず、時間が消える。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4754880"/>
            <a:ext cx="169164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9D3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予約・広告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04872" y="5166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06040" y="4754880"/>
            <a:ext cx="169164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9D3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顧客対応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5166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98848" y="4754880"/>
            <a:ext cx="169164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9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紙カルテ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98848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薬剤履歴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5166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91656" y="4754880"/>
            <a:ext cx="169164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9D3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売上管理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83296" y="5166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284464" y="4754880"/>
            <a:ext cx="169164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9D3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84464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データが繋がらない → 同じ顧客が二重登録 → 判断材料にならない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5つのツールを、1つの管理画面に。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9683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HairSalonLink は、予約・カルテ・LINE配信・分析を1画面に統合する顧客管理SaaS。</a:t>
            </a:r>
            <a:endParaRPr lang="en-US" sz="14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¥4,980 で、複数ツールの契約を1本化し、データを連結して経営判断の材料に変えます。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4023360"/>
            <a:ext cx="3200400" cy="384048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(予約・広告)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4480560"/>
            <a:ext cx="3200400" cy="384048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80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(顧客対応)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937760"/>
            <a:ext cx="3200400" cy="384048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937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紙カルテ (履歴)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5394960"/>
            <a:ext cx="3200400" cy="384048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394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(売上管理)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3200400" cy="384048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852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(宣伝)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5257800"/>
            <a:ext cx="594360" cy="594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52160" y="4023360"/>
            <a:ext cx="4434840" cy="2377440"/>
          </a:xfrm>
          <a:prstGeom prst="rect">
            <a:avLst/>
          </a:prstGeom>
          <a:solidFill>
            <a:srgbClr val="E5EDF2"/>
          </a:solidFill>
          <a:ln w="19050">
            <a:solidFill>
              <a:srgbClr val="1F5F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4023360"/>
            <a:ext cx="128016" cy="237744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21792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1つの管理画面で、すべて完結。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217920" y="5440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 / カルテ / LINE配信 / 分析 を、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同じ顧客データに紐づけて一元管理。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他社にない指標 ── HPB→自社 移行率。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9683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「HPBの広告を減らしても、お客様は戻ってきてくれるか？」</a:t>
            </a:r>
            <a:endParaRPr lang="en-US" sz="14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これは経営判断の核心の問いです。HairSalonLink は、その答えを数字で出します。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931920"/>
            <a:ext cx="9683496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931920"/>
            <a:ext cx="128016" cy="246888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→ 自社 移行率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pPr indent="0" marL="0">
              <a:buNone/>
            </a:pPr>
            <a:r>
              <a:rPr lang="en-US" sz="4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553212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この数字の読み方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HPB経由の新規客のうち 57% が、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次回をLINEや自社で予約した。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32120" y="5623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HPB広告を月¥10,000 減らせる根拠になる。</a:t>
            </a:r>
            <a:endParaRPr lang="en-US" sz="12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移行率が低ければ、LINE登録誘導の改善余地が見える。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693408"/>
            <a:ext cx="9683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画面内の数値はデモサロンの例です。実際の数値は店舗の運用により変動します。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小規模の運用に必要な、6つの機能。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3108960" cy="187452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51760"/>
            <a:ext cx="685800" cy="685800"/>
          </a:xfrm>
          <a:prstGeom prst="ellipse">
            <a:avLst/>
          </a:prstGeom>
          <a:solidFill>
            <a:srgbClr val="E5ED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77063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LINE予約・リマインド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LIFF対応・自動受付・自動リマインド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94760" y="2377440"/>
            <a:ext cx="3108960" cy="187452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69080" y="2651760"/>
            <a:ext cx="685800" cy="685800"/>
          </a:xfrm>
          <a:prstGeom prst="ellipse">
            <a:avLst/>
          </a:prstGeom>
          <a:solidFill>
            <a:srgbClr val="E5ED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77063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予約カレンダー統合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06908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/ LINE / Web を1画面に集約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86600" y="2377440"/>
            <a:ext cx="3108960" cy="187452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60920" y="2651760"/>
            <a:ext cx="685800" cy="685800"/>
          </a:xfrm>
          <a:prstGeom prst="ellipse">
            <a:avLst/>
          </a:prstGeom>
          <a:solidFill>
            <a:srgbClr val="E5ED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77063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HPB→自社 移行率追跡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36092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独自KPIで広告判断の材料を可視化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526280"/>
            <a:ext cx="3108960" cy="187452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800600"/>
            <a:ext cx="685800" cy="685800"/>
          </a:xfrm>
          <a:prstGeom prst="ellipse">
            <a:avLst/>
          </a:prstGeom>
          <a:solidFill>
            <a:srgbClr val="E5ED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919472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薬剤履歴カルテ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623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ブランド・比率・アレルギー・DL 1-5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794760" y="4526280"/>
            <a:ext cx="3108960" cy="187452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069080" y="4800600"/>
            <a:ext cx="685800" cy="685800"/>
          </a:xfrm>
          <a:prstGeom prst="ellipse">
            <a:avLst/>
          </a:prstGeom>
          <a:solidFill>
            <a:srgbClr val="E5ED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4919472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9204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セグメント別LINE配信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069080" y="5623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休眠 / VIP / 初回 の条件指定で配信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086600" y="4526280"/>
            <a:ext cx="3108960" cy="187452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360920" y="4800600"/>
            <a:ext cx="685800" cy="685800"/>
          </a:xfrm>
          <a:prstGeom prst="ellipse">
            <a:avLst/>
          </a:prstGeom>
          <a:solidFill>
            <a:srgbClr val="E5EDF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4919472"/>
            <a:ext cx="448056" cy="448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スタイルギャラリー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60920" y="5623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撮影写真からそのまま予約に導線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ALTERNATIVES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主要ツールとの比較で、優位性を示す。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423160"/>
            <a:ext cx="2560320" cy="685800"/>
          </a:xfrm>
          <a:prstGeom prst="rect">
            <a:avLst/>
          </a:prstGeom>
          <a:solidFill>
            <a:srgbClr val="CAC4B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2423160"/>
            <a:ext cx="2011680" cy="685800"/>
          </a:xfrm>
          <a:prstGeom prst="rect">
            <a:avLst/>
          </a:prstGeom>
          <a:solidFill>
            <a:srgbClr val="CAC4B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紙カルテ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4920" y="2423160"/>
            <a:ext cx="2011680" cy="685800"/>
          </a:xfrm>
          <a:prstGeom prst="rect">
            <a:avLst/>
          </a:prstGeom>
          <a:solidFill>
            <a:srgbClr val="CAC4B9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汎用予約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2423160"/>
            <a:ext cx="3108960" cy="68580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2423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HairSalonLink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25603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10896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月額コスト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63240" y="3108960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310896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74920" y="3108960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310896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¥8,000〜¥21,000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86600" y="3108960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1192" y="3108960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¥4,980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256032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58444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063240" y="3584448"/>
            <a:ext cx="201168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358444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74920" y="3584448"/>
            <a:ext cx="201168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358444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¥0〜¥100,000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86600" y="3584448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358444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059936"/>
            <a:ext cx="25603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05993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LINE連携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063240" y="4059936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405993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74920" y="4059936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405993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086600" y="4059936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51192" y="4059936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4535424"/>
            <a:ext cx="256032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53542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薬剤履歴カルテ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063240" y="4535424"/>
            <a:ext cx="201168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453542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074920" y="4535424"/>
            <a:ext cx="201168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453542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086600" y="4535424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51192" y="4535424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010912"/>
            <a:ext cx="25603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50109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HPB→自社 移行率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063240" y="5010912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27832" y="501091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074920" y="5010912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9512" y="501091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086600" y="5010912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51192" y="5010912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02920" y="5486400"/>
            <a:ext cx="256032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" y="54864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小規模特化UI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3063240" y="5486400"/>
            <a:ext cx="201168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27832" y="548640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074920" y="5486400"/>
            <a:ext cx="2011680" cy="47548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548640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086600" y="5486400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51192" y="5486400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502920" y="5961888"/>
            <a:ext cx="25603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" y="596188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契約縛り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3063240" y="5961888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27832" y="59618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5074920" y="5961888"/>
            <a:ext cx="20116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9512" y="59618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年契約多い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7086600" y="5961888"/>
            <a:ext cx="3108960" cy="475488"/>
          </a:xfrm>
          <a:prstGeom prst="rect">
            <a:avLst/>
          </a:prstGeom>
          <a:solidFill>
            <a:srgbClr val="E5EDF2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51192" y="596188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502920" y="6693408"/>
            <a:ext cx="9683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各社公開料金・公式情報より作成 (2026年4月時点)。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月額 ¥4,980 が、何で回収できるか。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9683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費用対効果を、「広告費の削減」「事務時間の削減」「ペイバック期間」の3つで定量化します。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3075432" cy="274320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520440"/>
            <a:ext cx="3075432" cy="109728"/>
          </a:xfrm>
          <a:prstGeom prst="rect">
            <a:avLst/>
          </a:prstGeom>
          <a:solidFill>
            <a:srgbClr val="A5383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49040"/>
            <a:ext cx="252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広告費の削減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526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¥10,000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月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4937760"/>
            <a:ext cx="2526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HPB→自社移行率が 10pt 上がれば、HPB広告予算を月1万円減らせる試算。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06952" y="3520440"/>
            <a:ext cx="3075432" cy="274320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6952" y="3520440"/>
            <a:ext cx="3075432" cy="109728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12" name="Text 10"/>
          <p:cNvSpPr/>
          <p:nvPr/>
        </p:nvSpPr>
        <p:spPr>
          <a:xfrm>
            <a:off x="4081272" y="3749040"/>
            <a:ext cx="252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事務時間の削減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81272" y="4160520"/>
            <a:ext cx="2526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20時間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月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81272" y="4937760"/>
            <a:ext cx="2526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営業後の予約対応・カルテ整理・売上集計を統合。1日40分 × 30営業日。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0984" y="3520440"/>
            <a:ext cx="3075432" cy="2743200"/>
          </a:xfrm>
          <a:prstGeom prst="rect">
            <a:avLst/>
          </a:prstGeom>
          <a:solidFill>
            <a:srgbClr val="F5F3E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0984" y="3520440"/>
            <a:ext cx="3075432" cy="109728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7" name="Text 15"/>
          <p:cNvSpPr/>
          <p:nvPr/>
        </p:nvSpPr>
        <p:spPr>
          <a:xfrm>
            <a:off x="7385304" y="3749040"/>
            <a:ext cx="252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ペイバック期間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85304" y="4160520"/>
            <a:ext cx="2526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ヶ月未満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385304" y="4937760"/>
            <a:ext cx="2526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上記2項目だけで、Standard プランは月額の数倍の効果が見込める。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693408"/>
            <a:ext cx="9683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効果は店舗の運用状況により変動します。試算は標準的な小規模サロンを想定。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まずは無料から。必要になったら月額へ。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3044952" cy="3886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 / 1席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まずは触ってみたい方へ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2404872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09160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顧客 30名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月50予約まで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基本カルテ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LINE予約URL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CSV移行対応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クレカ登録不要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22192" y="2468880"/>
            <a:ext cx="3044952" cy="3886200"/>
          </a:xfrm>
          <a:prstGeom prst="rect">
            <a:avLst/>
          </a:prstGeom>
          <a:solidFill>
            <a:srgbClr val="1F5F80"/>
          </a:solidFill>
          <a:ln w="12700">
            <a:solidFill>
              <a:srgbClr val="1F5F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3108" y="2286000"/>
            <a:ext cx="2103120" cy="347472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3108" y="2286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42232" y="265176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42232" y="310896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 / 1〜5席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42232" y="34747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¥4,980</a:t>
            </a:r>
            <a:pPr indent="0" marL="0">
              <a:buNone/>
            </a:pPr>
            <a:r>
              <a:rPr lang="en-US" sz="12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/月(税別)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142232" y="41605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HPB依存を本気で減らしたい方へ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42232" y="4572000"/>
            <a:ext cx="2404872" cy="0"/>
          </a:xfrm>
          <a:prstGeom prst="line">
            <a:avLst/>
          </a:prstGeom>
          <a:noFill/>
          <a:ln w="6350">
            <a:solidFill>
              <a:srgbClr val="4A8F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2232" y="4709160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D5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顧客 500名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D5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予約無制限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D5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LINE配信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D5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薬剤カルテ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D5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指名管理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D5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HPB移行率KPI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41464" y="2468880"/>
            <a:ext cx="3044952" cy="3886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504" y="265176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61504" y="310896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複数スタッフ / 5席〜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61504" y="34747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¥9,980</a:t>
            </a:r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/月(税別)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61504" y="41605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成長フェーズに入った店舗へ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61504" y="4572000"/>
            <a:ext cx="2404872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1504" y="4709160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顧客無制限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AI離反予測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ギャラリー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複数スタッフ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初期設定サポート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優先サポート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 TO 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683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もし合わなかったら、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いつでも、何も失わずにやめられる。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3108960"/>
            <a:ext cx="9683496" cy="56692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089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「契約してから後悔したら？」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32552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00600" y="3108960"/>
            <a:ext cx="5111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月単位で解約できます。違約金はありません。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749040"/>
            <a:ext cx="9683496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749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「データを失わない？」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8953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3749040"/>
            <a:ext cx="5111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解約後30日間、顧客データをCSVでエクスポートできます。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4389120"/>
            <a:ext cx="9683496" cy="56692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389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「カード情報を渡したくない」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53542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4389120"/>
            <a:ext cx="5111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Freeプランはクレジットカード登録不要です。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5029200"/>
            <a:ext cx="9683496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5029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「使いこなせるか不安」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51755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5029200"/>
            <a:ext cx="5111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LINEを使えるなら大丈夫。アイコン中心のシンプルUI。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5669280"/>
            <a:ext cx="9683496" cy="566928"/>
          </a:xfrm>
          <a:prstGeom prst="rect">
            <a:avLst/>
          </a:prstGeom>
          <a:solidFill>
            <a:srgbClr val="F5F3EF"/>
          </a:solidFill>
          <a:ln w="5080">
            <a:solidFill>
              <a:srgbClr val="D9D3C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5669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「既存データの移行は？」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581558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5669280"/>
            <a:ext cx="5111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HPBのCSVをそのまま取込。電話番号で自動名寄せ。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02920" y="6967728"/>
            <a:ext cx="9683496" cy="0"/>
          </a:xfrm>
          <a:prstGeom prst="line">
            <a:avLst/>
          </a:prstGeom>
          <a:noFill/>
          <a:ln w="6350">
            <a:solidFill>
              <a:srgbClr val="D9D3C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02920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  —  美容室向け顧客管理 SaaS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3058668" y="7104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shibahara.724@gmail.com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9272016" y="7104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88936"/>
            <a:ext cx="10689336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9683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今日30分で、明日の経営判断が変わる。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9683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Freeプラン登録 → HPBのCSVをアップロード → LINE予約URLを発行。</a:t>
            </a:r>
            <a:endParaRPr lang="en-US" sz="15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これだけで、明日からの予約データが1画面に蓄積されはじめます。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8388" y="4114800"/>
            <a:ext cx="4389120" cy="1645920"/>
          </a:xfrm>
          <a:prstGeom prst="rect">
            <a:avLst/>
          </a:prstGeom>
          <a:solidFill>
            <a:srgbClr val="263C54"/>
          </a:solidFill>
          <a:ln/>
        </p:spPr>
      </p:sp>
      <p:sp>
        <p:nvSpPr>
          <p:cNvPr id="8" name="Text 6"/>
          <p:cNvSpPr/>
          <p:nvPr/>
        </p:nvSpPr>
        <p:spPr>
          <a:xfrm>
            <a:off x="818388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ベータ版デモ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" y="46817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今すぐブラウザで試せます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8388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hair-salon-link-production.up.railway.app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1828" y="4114800"/>
            <a:ext cx="4389120" cy="16459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1828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1828" y="46817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直接ご相談も承ります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1828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shibahara.724@gmail.com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126480"/>
            <a:ext cx="968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カード登録不要 / 登録から3分で利用開始 / 月額 ¥4,980〜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HairSalonLink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営業パンフレット (A4)</dc:title>
  <dc:subject>PptxGenJS Presentation</dc:subject>
  <dc:creator>HairSalonLink</dc:creator>
  <cp:lastModifiedBy>HairSalonLink</cp:lastModifiedBy>
  <cp:revision>1</cp:revision>
  <dcterms:created xsi:type="dcterms:W3CDTF">2026-04-19T01:19:10Z</dcterms:created>
  <dcterms:modified xsi:type="dcterms:W3CDTF">2026-04-19T01:19:10Z</dcterms:modified>
</cp:coreProperties>
</file>